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ernoru" charset="1" panose="00000A00000000000000"/>
      <p:regular r:id="rId24"/>
    </p:embeddedFont>
    <p:embeddedFont>
      <p:font typeface="Canva Sans Bold" charset="1" panose="020B0803030501040103"/>
      <p:regular r:id="rId25"/>
    </p:embeddedFont>
    <p:embeddedFont>
      <p:font typeface="Poppins Light" charset="1" panose="00000400000000000000"/>
      <p:regular r:id="rId26"/>
    </p:embeddedFont>
    <p:embeddedFont>
      <p:font typeface="Canva Sans" charset="1" panose="020B0503030501040103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0310" y="-738195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3"/>
                </a:lnTo>
                <a:lnTo>
                  <a:pt x="0" y="550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4448835" y="-738195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5620930" y="0"/>
                </a:moveTo>
                <a:lnTo>
                  <a:pt x="0" y="0"/>
                </a:lnTo>
                <a:lnTo>
                  <a:pt x="0" y="5509403"/>
                </a:lnTo>
                <a:lnTo>
                  <a:pt x="5620930" y="5509403"/>
                </a:lnTo>
                <a:lnTo>
                  <a:pt x="562093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1823646" y="6027368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5143500"/>
                </a:moveTo>
                <a:lnTo>
                  <a:pt x="5247620" y="5143500"/>
                </a:lnTo>
                <a:lnTo>
                  <a:pt x="524762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14864026" y="6027368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2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20" y="0"/>
                </a:lnTo>
                <a:lnTo>
                  <a:pt x="524762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2194174" y="2433251"/>
            <a:ext cx="13899652" cy="5420498"/>
            <a:chOff x="0" y="0"/>
            <a:chExt cx="3660814" cy="14276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0814" cy="1427621"/>
            </a:xfrm>
            <a:custGeom>
              <a:avLst/>
              <a:gdLst/>
              <a:ahLst/>
              <a:cxnLst/>
              <a:rect r="r" b="b" t="t" l="l"/>
              <a:pathLst>
                <a:path h="1427621" w="3660814">
                  <a:moveTo>
                    <a:pt x="28406" y="0"/>
                  </a:moveTo>
                  <a:lnTo>
                    <a:pt x="3632407" y="0"/>
                  </a:lnTo>
                  <a:cubicBezTo>
                    <a:pt x="3639941" y="0"/>
                    <a:pt x="3647167" y="2993"/>
                    <a:pt x="3652494" y="8320"/>
                  </a:cubicBezTo>
                  <a:cubicBezTo>
                    <a:pt x="3657821" y="13647"/>
                    <a:pt x="3660814" y="20872"/>
                    <a:pt x="3660814" y="28406"/>
                  </a:cubicBezTo>
                  <a:lnTo>
                    <a:pt x="3660814" y="1399215"/>
                  </a:lnTo>
                  <a:cubicBezTo>
                    <a:pt x="3660814" y="1406748"/>
                    <a:pt x="3657821" y="1413974"/>
                    <a:pt x="3652494" y="1419301"/>
                  </a:cubicBezTo>
                  <a:cubicBezTo>
                    <a:pt x="3647167" y="1424628"/>
                    <a:pt x="3639941" y="1427621"/>
                    <a:pt x="3632407" y="1427621"/>
                  </a:cubicBezTo>
                  <a:lnTo>
                    <a:pt x="28406" y="1427621"/>
                  </a:lnTo>
                  <a:cubicBezTo>
                    <a:pt x="12718" y="1427621"/>
                    <a:pt x="0" y="1414903"/>
                    <a:pt x="0" y="1399215"/>
                  </a:cubicBezTo>
                  <a:lnTo>
                    <a:pt x="0" y="28406"/>
                  </a:lnTo>
                  <a:cubicBezTo>
                    <a:pt x="0" y="12718"/>
                    <a:pt x="12718" y="0"/>
                    <a:pt x="28406" y="0"/>
                  </a:cubicBezTo>
                  <a:close/>
                </a:path>
              </a:pathLst>
            </a:custGeom>
            <a:solidFill>
              <a:srgbClr val="5EB2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60814" cy="1465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07769" y="3596026"/>
            <a:ext cx="5420712" cy="4257723"/>
          </a:xfrm>
          <a:custGeom>
            <a:avLst/>
            <a:gdLst/>
            <a:ahLst/>
            <a:cxnLst/>
            <a:rect r="r" b="b" t="t" l="l"/>
            <a:pathLst>
              <a:path h="4257723" w="5420712">
                <a:moveTo>
                  <a:pt x="0" y="0"/>
                </a:moveTo>
                <a:lnTo>
                  <a:pt x="5420713" y="0"/>
                </a:lnTo>
                <a:lnTo>
                  <a:pt x="5420713" y="4257723"/>
                </a:lnTo>
                <a:lnTo>
                  <a:pt x="0" y="4257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19683" y="3696316"/>
            <a:ext cx="9216360" cy="213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3"/>
              </a:lnSpc>
            </a:pPr>
            <a:r>
              <a:rPr lang="en-US" sz="6928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HEALTH PROVIDER FRAUD DETECTION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2194174" y="1416042"/>
            <a:ext cx="689974" cy="732598"/>
          </a:xfrm>
          <a:custGeom>
            <a:avLst/>
            <a:gdLst/>
            <a:ahLst/>
            <a:cxnLst/>
            <a:rect r="r" b="b" t="t" l="l"/>
            <a:pathLst>
              <a:path h="732598" w="689974">
                <a:moveTo>
                  <a:pt x="689974" y="0"/>
                </a:moveTo>
                <a:lnTo>
                  <a:pt x="0" y="0"/>
                </a:lnTo>
                <a:lnTo>
                  <a:pt x="0" y="732598"/>
                </a:lnTo>
                <a:lnTo>
                  <a:pt x="689974" y="732598"/>
                </a:lnTo>
                <a:lnTo>
                  <a:pt x="6899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2674395" y="757816"/>
            <a:ext cx="1914796" cy="1503985"/>
          </a:xfrm>
          <a:custGeom>
            <a:avLst/>
            <a:gdLst/>
            <a:ahLst/>
            <a:cxnLst/>
            <a:rect r="r" b="b" t="t" l="l"/>
            <a:pathLst>
              <a:path h="1503985" w="1914796">
                <a:moveTo>
                  <a:pt x="1914796" y="0"/>
                </a:moveTo>
                <a:lnTo>
                  <a:pt x="0" y="0"/>
                </a:lnTo>
                <a:lnTo>
                  <a:pt x="0" y="1503985"/>
                </a:lnTo>
                <a:lnTo>
                  <a:pt x="1914796" y="1503985"/>
                </a:lnTo>
                <a:lnTo>
                  <a:pt x="19147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3423974" y="8272849"/>
            <a:ext cx="1914796" cy="1503985"/>
          </a:xfrm>
          <a:custGeom>
            <a:avLst/>
            <a:gdLst/>
            <a:ahLst/>
            <a:cxnLst/>
            <a:rect r="r" b="b" t="t" l="l"/>
            <a:pathLst>
              <a:path h="1503985" w="1914796">
                <a:moveTo>
                  <a:pt x="0" y="1503985"/>
                </a:moveTo>
                <a:lnTo>
                  <a:pt x="1914795" y="1503985"/>
                </a:lnTo>
                <a:lnTo>
                  <a:pt x="1914795" y="0"/>
                </a:lnTo>
                <a:lnTo>
                  <a:pt x="0" y="0"/>
                </a:lnTo>
                <a:lnTo>
                  <a:pt x="0" y="150398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579482" y="5615012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1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19" y="0"/>
                </a:lnTo>
                <a:lnTo>
                  <a:pt x="5247619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060413" y="-823170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654069" y="3603627"/>
            <a:ext cx="14979862" cy="4532810"/>
            <a:chOff x="0" y="0"/>
            <a:chExt cx="4701043" cy="14225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01043" cy="1422505"/>
            </a:xfrm>
            <a:custGeom>
              <a:avLst/>
              <a:gdLst/>
              <a:ahLst/>
              <a:cxnLst/>
              <a:rect r="r" b="b" t="t" l="l"/>
              <a:pathLst>
                <a:path h="1422505" w="4701043">
                  <a:moveTo>
                    <a:pt x="26358" y="0"/>
                  </a:moveTo>
                  <a:lnTo>
                    <a:pt x="4674685" y="0"/>
                  </a:lnTo>
                  <a:cubicBezTo>
                    <a:pt x="4689242" y="0"/>
                    <a:pt x="4701043" y="11801"/>
                    <a:pt x="4701043" y="26358"/>
                  </a:cubicBezTo>
                  <a:lnTo>
                    <a:pt x="4701043" y="1396147"/>
                  </a:lnTo>
                  <a:cubicBezTo>
                    <a:pt x="4701043" y="1410704"/>
                    <a:pt x="4689242" y="1422505"/>
                    <a:pt x="4674685" y="1422505"/>
                  </a:cubicBezTo>
                  <a:lnTo>
                    <a:pt x="26358" y="1422505"/>
                  </a:lnTo>
                  <a:cubicBezTo>
                    <a:pt x="19367" y="1422505"/>
                    <a:pt x="12663" y="1419728"/>
                    <a:pt x="7720" y="1414785"/>
                  </a:cubicBezTo>
                  <a:cubicBezTo>
                    <a:pt x="2777" y="1409842"/>
                    <a:pt x="0" y="1403138"/>
                    <a:pt x="0" y="1396147"/>
                  </a:cubicBezTo>
                  <a:lnTo>
                    <a:pt x="0" y="26358"/>
                  </a:lnTo>
                  <a:cubicBezTo>
                    <a:pt x="0" y="11801"/>
                    <a:pt x="11801" y="0"/>
                    <a:pt x="26358" y="0"/>
                  </a:cubicBezTo>
                  <a:close/>
                </a:path>
              </a:pathLst>
            </a:custGeom>
            <a:solidFill>
              <a:srgbClr val="5EB2B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01043" cy="146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1372" y="7639690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4"/>
                </a:lnTo>
                <a:lnTo>
                  <a:pt x="0" y="993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63396" y="838006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03400" y="9133931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3527662" y="1922007"/>
            <a:ext cx="11232676" cy="99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4"/>
              </a:lnSpc>
            </a:pPr>
            <a:r>
              <a:rPr lang="en-US" sz="6499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PROBLEM OVERVIEW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4961045" y="615014"/>
            <a:ext cx="2298255" cy="827372"/>
          </a:xfrm>
          <a:custGeom>
            <a:avLst/>
            <a:gdLst/>
            <a:ahLst/>
            <a:cxnLst/>
            <a:rect r="r" b="b" t="t" l="l"/>
            <a:pathLst>
              <a:path h="827372" w="2298255">
                <a:moveTo>
                  <a:pt x="2298255" y="0"/>
                </a:moveTo>
                <a:lnTo>
                  <a:pt x="0" y="0"/>
                </a:lnTo>
                <a:lnTo>
                  <a:pt x="0" y="827372"/>
                </a:lnTo>
                <a:lnTo>
                  <a:pt x="2298255" y="827372"/>
                </a:lnTo>
                <a:lnTo>
                  <a:pt x="22982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2124072" y="4155813"/>
            <a:ext cx="13070781" cy="371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fraud costs the U.S. healthcare system billions annually</a:t>
            </a:r>
          </a:p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Frau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dulent providers may:</a:t>
            </a:r>
          </a:p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Bill for services never performed</a:t>
            </a:r>
          </a:p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Upcode services</a:t>
            </a:r>
          </a:p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 claims for deceased patients</a:t>
            </a:r>
          </a:p>
          <a:p>
            <a:pPr algn="l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Build a machine learning model to flag high-risk providers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579482" y="5615012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1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19" y="0"/>
                </a:lnTo>
                <a:lnTo>
                  <a:pt x="5247619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750052" y="3851122"/>
            <a:ext cx="15509248" cy="4309474"/>
            <a:chOff x="0" y="0"/>
            <a:chExt cx="4604436" cy="12794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04436" cy="1279410"/>
            </a:xfrm>
            <a:custGeom>
              <a:avLst/>
              <a:gdLst/>
              <a:ahLst/>
              <a:cxnLst/>
              <a:rect r="r" b="b" t="t" l="l"/>
              <a:pathLst>
                <a:path h="1279410" w="4604436">
                  <a:moveTo>
                    <a:pt x="25458" y="0"/>
                  </a:moveTo>
                  <a:lnTo>
                    <a:pt x="4578977" y="0"/>
                  </a:lnTo>
                  <a:cubicBezTo>
                    <a:pt x="4585729" y="0"/>
                    <a:pt x="4592205" y="2682"/>
                    <a:pt x="4596979" y="7457"/>
                  </a:cubicBezTo>
                  <a:cubicBezTo>
                    <a:pt x="4601754" y="12231"/>
                    <a:pt x="4604436" y="18706"/>
                    <a:pt x="4604436" y="25458"/>
                  </a:cubicBezTo>
                  <a:lnTo>
                    <a:pt x="4604436" y="1253952"/>
                  </a:lnTo>
                  <a:cubicBezTo>
                    <a:pt x="4604436" y="1260704"/>
                    <a:pt x="4601754" y="1267180"/>
                    <a:pt x="4596979" y="1271954"/>
                  </a:cubicBezTo>
                  <a:cubicBezTo>
                    <a:pt x="4592205" y="1276728"/>
                    <a:pt x="4585729" y="1279410"/>
                    <a:pt x="4578977" y="1279410"/>
                  </a:cubicBezTo>
                  <a:lnTo>
                    <a:pt x="25458" y="1279410"/>
                  </a:lnTo>
                  <a:cubicBezTo>
                    <a:pt x="18706" y="1279410"/>
                    <a:pt x="12231" y="1276728"/>
                    <a:pt x="7457" y="1271954"/>
                  </a:cubicBezTo>
                  <a:cubicBezTo>
                    <a:pt x="2682" y="1267180"/>
                    <a:pt x="0" y="1260704"/>
                    <a:pt x="0" y="1253952"/>
                  </a:cubicBezTo>
                  <a:lnTo>
                    <a:pt x="0" y="25458"/>
                  </a:lnTo>
                  <a:cubicBezTo>
                    <a:pt x="0" y="18706"/>
                    <a:pt x="2682" y="12231"/>
                    <a:pt x="7457" y="7457"/>
                  </a:cubicBezTo>
                  <a:cubicBezTo>
                    <a:pt x="12231" y="2682"/>
                    <a:pt x="18706" y="0"/>
                    <a:pt x="25458" y="0"/>
                  </a:cubicBezTo>
                  <a:close/>
                </a:path>
              </a:pathLst>
            </a:custGeom>
            <a:solidFill>
              <a:srgbClr val="5EB2B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04436" cy="1317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10467" y="1143870"/>
            <a:ext cx="7959051" cy="192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sz="6320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WHY DOES IT MATTER?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4961045" y="615014"/>
            <a:ext cx="2298255" cy="827372"/>
          </a:xfrm>
          <a:custGeom>
            <a:avLst/>
            <a:gdLst/>
            <a:ahLst/>
            <a:cxnLst/>
            <a:rect r="r" b="b" t="t" l="l"/>
            <a:pathLst>
              <a:path h="827372" w="2298255">
                <a:moveTo>
                  <a:pt x="2298255" y="827372"/>
                </a:moveTo>
                <a:lnTo>
                  <a:pt x="0" y="827372"/>
                </a:lnTo>
                <a:lnTo>
                  <a:pt x="0" y="0"/>
                </a:lnTo>
                <a:lnTo>
                  <a:pt x="2298255" y="0"/>
                </a:lnTo>
                <a:lnTo>
                  <a:pt x="2298255" y="8273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060413" y="-823170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2989" y="8186762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15013" y="8927134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3" y="0"/>
                </a:lnTo>
                <a:lnTo>
                  <a:pt x="721353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55018" y="968100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5" y="0"/>
                </a:lnTo>
                <a:lnTo>
                  <a:pt x="659995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468328" y="4264689"/>
            <a:ext cx="15642234" cy="340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Frau</a:t>
            </a: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detection reduces large financial losses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investigators by prioritizing suspicious providers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Improves Medicare program integrity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fraud detection is slow → ML speeds up investigations</a:t>
            </a:r>
          </a:p>
          <a:p>
            <a:pPr algn="l">
              <a:lnSpc>
                <a:spcPts val="54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877" y="2761736"/>
            <a:ext cx="12738094" cy="5665825"/>
            <a:chOff x="0" y="0"/>
            <a:chExt cx="3908424" cy="1738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8423" cy="1738443"/>
            </a:xfrm>
            <a:custGeom>
              <a:avLst/>
              <a:gdLst/>
              <a:ahLst/>
              <a:cxnLst/>
              <a:rect r="r" b="b" t="t" l="l"/>
              <a:pathLst>
                <a:path h="1738443" w="3908423">
                  <a:moveTo>
                    <a:pt x="30997" y="0"/>
                  </a:moveTo>
                  <a:lnTo>
                    <a:pt x="3877427" y="0"/>
                  </a:lnTo>
                  <a:cubicBezTo>
                    <a:pt x="3885648" y="0"/>
                    <a:pt x="3893532" y="3266"/>
                    <a:pt x="3899345" y="9079"/>
                  </a:cubicBezTo>
                  <a:cubicBezTo>
                    <a:pt x="3905158" y="14892"/>
                    <a:pt x="3908423" y="22776"/>
                    <a:pt x="3908423" y="30997"/>
                  </a:cubicBezTo>
                  <a:lnTo>
                    <a:pt x="3908423" y="1707446"/>
                  </a:lnTo>
                  <a:cubicBezTo>
                    <a:pt x="3908423" y="1715667"/>
                    <a:pt x="3905158" y="1723551"/>
                    <a:pt x="3899345" y="1729364"/>
                  </a:cubicBezTo>
                  <a:cubicBezTo>
                    <a:pt x="3893532" y="1735177"/>
                    <a:pt x="3885648" y="1738443"/>
                    <a:pt x="3877427" y="1738443"/>
                  </a:cubicBezTo>
                  <a:lnTo>
                    <a:pt x="30997" y="1738443"/>
                  </a:lnTo>
                  <a:cubicBezTo>
                    <a:pt x="13878" y="1738443"/>
                    <a:pt x="0" y="1724565"/>
                    <a:pt x="0" y="1707446"/>
                  </a:cubicBezTo>
                  <a:lnTo>
                    <a:pt x="0" y="30997"/>
                  </a:lnTo>
                  <a:cubicBezTo>
                    <a:pt x="0" y="22776"/>
                    <a:pt x="3266" y="14892"/>
                    <a:pt x="9079" y="9079"/>
                  </a:cubicBezTo>
                  <a:cubicBezTo>
                    <a:pt x="14892" y="3266"/>
                    <a:pt x="22776" y="0"/>
                    <a:pt x="30997" y="0"/>
                  </a:cubicBezTo>
                  <a:close/>
                </a:path>
              </a:pathLst>
            </a:custGeom>
            <a:solidFill>
              <a:srgbClr val="5EB2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08424" cy="1776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635490" y="5615012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2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20" y="0"/>
                </a:lnTo>
                <a:lnTo>
                  <a:pt x="524762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652510" y="1078949"/>
            <a:ext cx="10982981" cy="88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</a:pPr>
            <a:r>
              <a:rPr lang="en-US" sz="5599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DATA USAGE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854" y="3780774"/>
            <a:ext cx="11637243" cy="407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266" indent="-358133" lvl="1">
              <a:lnSpc>
                <a:spcPts val="4014"/>
              </a:lnSpc>
              <a:buFont typeface="Arial"/>
              <a:buChar char="•"/>
            </a:pPr>
            <a:r>
              <a:rPr lang="en-US" sz="331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Beneficiary Data: age, chronic conditions, date of death</a:t>
            </a:r>
          </a:p>
          <a:p>
            <a:pPr algn="l" marL="716266" indent="-358133" lvl="1">
              <a:lnSpc>
                <a:spcPts val="4014"/>
              </a:lnSpc>
              <a:buFont typeface="Arial"/>
              <a:buChar char="•"/>
            </a:pPr>
            <a:r>
              <a:rPr lang="en-US" sz="331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Inpatient Claims: admission dates, reimbursement amounts</a:t>
            </a:r>
          </a:p>
          <a:p>
            <a:pPr algn="l" marL="716266" indent="-358133" lvl="1">
              <a:lnSpc>
                <a:spcPts val="4014"/>
              </a:lnSpc>
              <a:buFont typeface="Arial"/>
              <a:buChar char="•"/>
            </a:pPr>
            <a:r>
              <a:rPr lang="en-US" sz="331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Outpatient Claims: outpatient visit and service data</a:t>
            </a:r>
          </a:p>
          <a:p>
            <a:pPr algn="l" marL="716266" indent="-358133" lvl="1">
              <a:lnSpc>
                <a:spcPts val="4014"/>
              </a:lnSpc>
              <a:buFont typeface="Arial"/>
              <a:buChar char="•"/>
            </a:pPr>
            <a:r>
              <a:rPr lang="en-US" sz="331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Provider Fraud Labels: identifies fraudulent vs. non-fraudulent providers</a:t>
            </a:r>
          </a:p>
          <a:p>
            <a:pPr algn="l">
              <a:lnSpc>
                <a:spcPts val="401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060413" y="-823170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59950" y="6955981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98506" y="8255254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3" y="0"/>
                </a:lnTo>
                <a:lnTo>
                  <a:pt x="721353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19859" y="9222386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5" y="0"/>
                </a:lnTo>
                <a:lnTo>
                  <a:pt x="659995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215302" y="495332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113751" y="1794604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575211" y="2761736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5" y="0"/>
                </a:lnTo>
                <a:lnTo>
                  <a:pt x="659995" y="605997"/>
                </a:lnTo>
                <a:lnTo>
                  <a:pt x="0" y="605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0205" y="-968729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4448835" y="-968729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5620930" y="0"/>
                </a:moveTo>
                <a:lnTo>
                  <a:pt x="0" y="0"/>
                </a:lnTo>
                <a:lnTo>
                  <a:pt x="0" y="5509404"/>
                </a:lnTo>
                <a:lnTo>
                  <a:pt x="5620930" y="5509404"/>
                </a:lnTo>
                <a:lnTo>
                  <a:pt x="562093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258539" y="7488743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5143500"/>
                </a:moveTo>
                <a:lnTo>
                  <a:pt x="5247619" y="5143500"/>
                </a:lnTo>
                <a:lnTo>
                  <a:pt x="5247619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365271" y="4093916"/>
            <a:ext cx="14260729" cy="4255259"/>
            <a:chOff x="0" y="0"/>
            <a:chExt cx="4287712" cy="1279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7712" cy="1279410"/>
            </a:xfrm>
            <a:custGeom>
              <a:avLst/>
              <a:gdLst/>
              <a:ahLst/>
              <a:cxnLst/>
              <a:rect r="r" b="b" t="t" l="l"/>
              <a:pathLst>
                <a:path h="1279410" w="4287712">
                  <a:moveTo>
                    <a:pt x="27687" y="0"/>
                  </a:moveTo>
                  <a:lnTo>
                    <a:pt x="4260025" y="0"/>
                  </a:lnTo>
                  <a:cubicBezTo>
                    <a:pt x="4275317" y="0"/>
                    <a:pt x="4287712" y="12396"/>
                    <a:pt x="4287712" y="27687"/>
                  </a:cubicBezTo>
                  <a:lnTo>
                    <a:pt x="4287712" y="1251723"/>
                  </a:lnTo>
                  <a:cubicBezTo>
                    <a:pt x="4287712" y="1259066"/>
                    <a:pt x="4284795" y="1266109"/>
                    <a:pt x="4279603" y="1271301"/>
                  </a:cubicBezTo>
                  <a:cubicBezTo>
                    <a:pt x="4274411" y="1276493"/>
                    <a:pt x="4267368" y="1279410"/>
                    <a:pt x="4260025" y="1279410"/>
                  </a:cubicBezTo>
                  <a:lnTo>
                    <a:pt x="27687" y="1279410"/>
                  </a:lnTo>
                  <a:cubicBezTo>
                    <a:pt x="20344" y="1279410"/>
                    <a:pt x="13302" y="1276493"/>
                    <a:pt x="8109" y="1271301"/>
                  </a:cubicBezTo>
                  <a:cubicBezTo>
                    <a:pt x="2917" y="1266109"/>
                    <a:pt x="0" y="1259066"/>
                    <a:pt x="0" y="1251723"/>
                  </a:cubicBezTo>
                  <a:lnTo>
                    <a:pt x="0" y="27687"/>
                  </a:lnTo>
                  <a:cubicBezTo>
                    <a:pt x="0" y="20344"/>
                    <a:pt x="2917" y="13302"/>
                    <a:pt x="8109" y="8109"/>
                  </a:cubicBezTo>
                  <a:cubicBezTo>
                    <a:pt x="13302" y="2917"/>
                    <a:pt x="20344" y="0"/>
                    <a:pt x="27687" y="0"/>
                  </a:cubicBezTo>
                  <a:close/>
                </a:path>
              </a:pathLst>
            </a:custGeom>
            <a:solidFill>
              <a:srgbClr val="5EB2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87712" cy="1317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20966" y="1565872"/>
            <a:ext cx="9673064" cy="102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1"/>
              </a:lnSpc>
            </a:pPr>
            <a:r>
              <a:rPr lang="en-US" sz="6679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METHEDOLOGY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333685" y="535683"/>
            <a:ext cx="975508" cy="895694"/>
          </a:xfrm>
          <a:custGeom>
            <a:avLst/>
            <a:gdLst/>
            <a:ahLst/>
            <a:cxnLst/>
            <a:rect r="r" b="b" t="t" l="l"/>
            <a:pathLst>
              <a:path h="895694" w="975508">
                <a:moveTo>
                  <a:pt x="0" y="0"/>
                </a:moveTo>
                <a:lnTo>
                  <a:pt x="975508" y="0"/>
                </a:lnTo>
                <a:lnTo>
                  <a:pt x="975508" y="895694"/>
                </a:lnTo>
                <a:lnTo>
                  <a:pt x="0" y="895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143689" y="1707053"/>
            <a:ext cx="650342" cy="597132"/>
          </a:xfrm>
          <a:custGeom>
            <a:avLst/>
            <a:gdLst/>
            <a:ahLst/>
            <a:cxnLst/>
            <a:rect r="r" b="b" t="t" l="l"/>
            <a:pathLst>
              <a:path h="597132" w="650342">
                <a:moveTo>
                  <a:pt x="0" y="0"/>
                </a:moveTo>
                <a:lnTo>
                  <a:pt x="650342" y="0"/>
                </a:lnTo>
                <a:lnTo>
                  <a:pt x="650342" y="597132"/>
                </a:lnTo>
                <a:lnTo>
                  <a:pt x="0" y="597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523927" y="2578980"/>
            <a:ext cx="595025" cy="546341"/>
          </a:xfrm>
          <a:custGeom>
            <a:avLst/>
            <a:gdLst/>
            <a:ahLst/>
            <a:cxnLst/>
            <a:rect r="r" b="b" t="t" l="l"/>
            <a:pathLst>
              <a:path h="546341" w="595025">
                <a:moveTo>
                  <a:pt x="0" y="0"/>
                </a:moveTo>
                <a:lnTo>
                  <a:pt x="595025" y="0"/>
                </a:lnTo>
                <a:lnTo>
                  <a:pt x="595025" y="546341"/>
                </a:lnTo>
                <a:lnTo>
                  <a:pt x="0" y="54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930124" y="8844614"/>
            <a:ext cx="2298255" cy="827372"/>
          </a:xfrm>
          <a:custGeom>
            <a:avLst/>
            <a:gdLst/>
            <a:ahLst/>
            <a:cxnLst/>
            <a:rect r="r" b="b" t="t" l="l"/>
            <a:pathLst>
              <a:path h="827372" w="2298255">
                <a:moveTo>
                  <a:pt x="0" y="0"/>
                </a:moveTo>
                <a:lnTo>
                  <a:pt x="2298256" y="0"/>
                </a:lnTo>
                <a:lnTo>
                  <a:pt x="2298256" y="827372"/>
                </a:lnTo>
                <a:lnTo>
                  <a:pt x="0" y="827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892772" y="4671377"/>
            <a:ext cx="12502455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Raw</a:t>
            </a: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→ Cleaning → Feature Engineering </a:t>
            </a:r>
          </a:p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Provider-Level Aggregation → Train/Val/Test Split → </a:t>
            </a:r>
          </a:p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Modeling → Evaluation → Error Analysi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45064" y="-663655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3"/>
                </a:lnTo>
                <a:lnTo>
                  <a:pt x="0" y="550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480104"/>
            <a:ext cx="11288599" cy="7200900"/>
            <a:chOff x="0" y="0"/>
            <a:chExt cx="2973129" cy="1896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3129" cy="1896533"/>
            </a:xfrm>
            <a:custGeom>
              <a:avLst/>
              <a:gdLst/>
              <a:ahLst/>
              <a:cxnLst/>
              <a:rect r="r" b="b" t="t" l="l"/>
              <a:pathLst>
                <a:path h="1896533" w="2973129">
                  <a:moveTo>
                    <a:pt x="34977" y="0"/>
                  </a:moveTo>
                  <a:lnTo>
                    <a:pt x="2938152" y="0"/>
                  </a:lnTo>
                  <a:cubicBezTo>
                    <a:pt x="2947428" y="0"/>
                    <a:pt x="2956325" y="3685"/>
                    <a:pt x="2962884" y="10244"/>
                  </a:cubicBezTo>
                  <a:cubicBezTo>
                    <a:pt x="2969444" y="16804"/>
                    <a:pt x="2973129" y="25700"/>
                    <a:pt x="2973129" y="34977"/>
                  </a:cubicBezTo>
                  <a:lnTo>
                    <a:pt x="2973129" y="1861557"/>
                  </a:lnTo>
                  <a:cubicBezTo>
                    <a:pt x="2973129" y="1870833"/>
                    <a:pt x="2969444" y="1879729"/>
                    <a:pt x="2962884" y="1886289"/>
                  </a:cubicBezTo>
                  <a:cubicBezTo>
                    <a:pt x="2956325" y="1892848"/>
                    <a:pt x="2947428" y="1896533"/>
                    <a:pt x="2938152" y="1896533"/>
                  </a:cubicBezTo>
                  <a:lnTo>
                    <a:pt x="34977" y="1896533"/>
                  </a:lnTo>
                  <a:cubicBezTo>
                    <a:pt x="25700" y="1896533"/>
                    <a:pt x="16804" y="1892848"/>
                    <a:pt x="10244" y="1886289"/>
                  </a:cubicBezTo>
                  <a:cubicBezTo>
                    <a:pt x="3685" y="1879729"/>
                    <a:pt x="0" y="1870833"/>
                    <a:pt x="0" y="1861557"/>
                  </a:cubicBezTo>
                  <a:lnTo>
                    <a:pt x="0" y="34977"/>
                  </a:lnTo>
                  <a:cubicBezTo>
                    <a:pt x="0" y="25700"/>
                    <a:pt x="3685" y="16804"/>
                    <a:pt x="10244" y="10244"/>
                  </a:cubicBezTo>
                  <a:cubicBezTo>
                    <a:pt x="16804" y="3685"/>
                    <a:pt x="25700" y="0"/>
                    <a:pt x="34977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73129" cy="1934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5243440" y="6355384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1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19" y="0"/>
                </a:lnTo>
                <a:lnTo>
                  <a:pt x="5247619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371749" y="3305469"/>
            <a:ext cx="4856176" cy="4114800"/>
          </a:xfrm>
          <a:custGeom>
            <a:avLst/>
            <a:gdLst/>
            <a:ahLst/>
            <a:cxnLst/>
            <a:rect r="r" b="b" t="t" l="l"/>
            <a:pathLst>
              <a:path h="4114800" w="4856176">
                <a:moveTo>
                  <a:pt x="0" y="0"/>
                </a:moveTo>
                <a:lnTo>
                  <a:pt x="4856177" y="0"/>
                </a:lnTo>
                <a:lnTo>
                  <a:pt x="4856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03356" y="1023141"/>
            <a:ext cx="10729347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FEATURE ENGINEERING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2831" y="7970650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50155" y="8927134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3" y="0"/>
                </a:lnTo>
                <a:lnTo>
                  <a:pt x="721353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05405" y="968100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537948" y="274386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506573" y="1205690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3" y="0"/>
                </a:lnTo>
                <a:lnTo>
                  <a:pt x="721353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748962" y="1868022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069193" y="2802787"/>
            <a:ext cx="10339420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Number of claims per provi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reimbursed amount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Average claim duration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Number of diagnosis codes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Number of unique beneficiaries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Beneficiary age distribution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Percentage of deceased beneficiaries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Inpatient/Outpatient claim ratios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Reimbursement per claim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Why: These features represent provider “behavior patterns”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2779" y="-280684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4965488" y="6083482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2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20" y="0"/>
                </a:lnTo>
                <a:lnTo>
                  <a:pt x="524762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22367" y="3192102"/>
            <a:ext cx="10304864" cy="5463130"/>
            <a:chOff x="0" y="0"/>
            <a:chExt cx="2714038" cy="1438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4038" cy="1438849"/>
            </a:xfrm>
            <a:custGeom>
              <a:avLst/>
              <a:gdLst/>
              <a:ahLst/>
              <a:cxnLst/>
              <a:rect r="r" b="b" t="t" l="l"/>
              <a:pathLst>
                <a:path h="1438849" w="2714038">
                  <a:moveTo>
                    <a:pt x="38316" y="0"/>
                  </a:moveTo>
                  <a:lnTo>
                    <a:pt x="2675723" y="0"/>
                  </a:lnTo>
                  <a:cubicBezTo>
                    <a:pt x="2685885" y="0"/>
                    <a:pt x="2695630" y="4037"/>
                    <a:pt x="2702816" y="11222"/>
                  </a:cubicBezTo>
                  <a:cubicBezTo>
                    <a:pt x="2710002" y="18408"/>
                    <a:pt x="2714038" y="28154"/>
                    <a:pt x="2714038" y="38316"/>
                  </a:cubicBezTo>
                  <a:lnTo>
                    <a:pt x="2714038" y="1400533"/>
                  </a:lnTo>
                  <a:cubicBezTo>
                    <a:pt x="2714038" y="1410695"/>
                    <a:pt x="2710002" y="1420441"/>
                    <a:pt x="2702816" y="1427627"/>
                  </a:cubicBezTo>
                  <a:cubicBezTo>
                    <a:pt x="2695630" y="1434812"/>
                    <a:pt x="2685885" y="1438849"/>
                    <a:pt x="2675723" y="1438849"/>
                  </a:cubicBezTo>
                  <a:lnTo>
                    <a:pt x="38316" y="1438849"/>
                  </a:lnTo>
                  <a:cubicBezTo>
                    <a:pt x="28154" y="1438849"/>
                    <a:pt x="18408" y="1434812"/>
                    <a:pt x="11222" y="1427627"/>
                  </a:cubicBezTo>
                  <a:cubicBezTo>
                    <a:pt x="4037" y="1420441"/>
                    <a:pt x="0" y="1410695"/>
                    <a:pt x="0" y="1400533"/>
                  </a:cubicBezTo>
                  <a:lnTo>
                    <a:pt x="0" y="38316"/>
                  </a:lnTo>
                  <a:cubicBezTo>
                    <a:pt x="0" y="28154"/>
                    <a:pt x="4037" y="18408"/>
                    <a:pt x="11222" y="11222"/>
                  </a:cubicBezTo>
                  <a:cubicBezTo>
                    <a:pt x="18408" y="4037"/>
                    <a:pt x="28154" y="0"/>
                    <a:pt x="38316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14038" cy="147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98903" y="8479436"/>
            <a:ext cx="898734" cy="825201"/>
          </a:xfrm>
          <a:custGeom>
            <a:avLst/>
            <a:gdLst/>
            <a:ahLst/>
            <a:cxnLst/>
            <a:rect r="r" b="b" t="t" l="l"/>
            <a:pathLst>
              <a:path h="825201" w="898734">
                <a:moveTo>
                  <a:pt x="0" y="0"/>
                </a:moveTo>
                <a:lnTo>
                  <a:pt x="898734" y="0"/>
                </a:lnTo>
                <a:lnTo>
                  <a:pt x="898734" y="825201"/>
                </a:lnTo>
                <a:lnTo>
                  <a:pt x="0" y="825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99324" y="9304637"/>
            <a:ext cx="599158" cy="550136"/>
          </a:xfrm>
          <a:custGeom>
            <a:avLst/>
            <a:gdLst/>
            <a:ahLst/>
            <a:cxnLst/>
            <a:rect r="r" b="b" t="t" l="l"/>
            <a:pathLst>
              <a:path h="550136" w="599158">
                <a:moveTo>
                  <a:pt x="0" y="0"/>
                </a:moveTo>
                <a:lnTo>
                  <a:pt x="599158" y="0"/>
                </a:lnTo>
                <a:lnTo>
                  <a:pt x="599158" y="550136"/>
                </a:lnTo>
                <a:lnTo>
                  <a:pt x="0" y="550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74172" y="9854773"/>
            <a:ext cx="548195" cy="503343"/>
          </a:xfrm>
          <a:custGeom>
            <a:avLst/>
            <a:gdLst/>
            <a:ahLst/>
            <a:cxnLst/>
            <a:rect r="r" b="b" t="t" l="l"/>
            <a:pathLst>
              <a:path h="503343" w="548195">
                <a:moveTo>
                  <a:pt x="0" y="0"/>
                </a:moveTo>
                <a:lnTo>
                  <a:pt x="548195" y="0"/>
                </a:lnTo>
                <a:lnTo>
                  <a:pt x="548195" y="503343"/>
                </a:lnTo>
                <a:lnTo>
                  <a:pt x="0" y="50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61045" y="615014"/>
            <a:ext cx="2298255" cy="827372"/>
          </a:xfrm>
          <a:custGeom>
            <a:avLst/>
            <a:gdLst/>
            <a:ahLst/>
            <a:cxnLst/>
            <a:rect r="r" b="b" t="t" l="l"/>
            <a:pathLst>
              <a:path h="827372" w="2298255">
                <a:moveTo>
                  <a:pt x="0" y="0"/>
                </a:moveTo>
                <a:lnTo>
                  <a:pt x="2298255" y="0"/>
                </a:lnTo>
                <a:lnTo>
                  <a:pt x="2298255" y="827372"/>
                </a:lnTo>
                <a:lnTo>
                  <a:pt x="0" y="827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2498078" y="2605535"/>
            <a:ext cx="5246370" cy="52463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8"/>
              <a:stretch>
                <a:fillRect l="-12208" t="0" r="-1220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33167" y="914400"/>
            <a:ext cx="11302919" cy="91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HANDLING CLASS IMBALANCE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2367" y="4298596"/>
            <a:ext cx="10304864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Frau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cases represent ~8–10% of providers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Imbalance handling methods used: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class_weight="balanced"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SMOTE or oversampling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Focused on PR-AUC (better for rare-fraud detection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0762" y="3024953"/>
            <a:ext cx="10495838" cy="5298793"/>
            <a:chOff x="0" y="0"/>
            <a:chExt cx="2867868" cy="1447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7868" cy="1447835"/>
            </a:xfrm>
            <a:custGeom>
              <a:avLst/>
              <a:gdLst/>
              <a:ahLst/>
              <a:cxnLst/>
              <a:rect r="r" b="b" t="t" l="l"/>
              <a:pathLst>
                <a:path h="1447835" w="2867868">
                  <a:moveTo>
                    <a:pt x="37619" y="0"/>
                  </a:moveTo>
                  <a:lnTo>
                    <a:pt x="2830250" y="0"/>
                  </a:lnTo>
                  <a:cubicBezTo>
                    <a:pt x="2840226" y="0"/>
                    <a:pt x="2849795" y="3963"/>
                    <a:pt x="2856850" y="11018"/>
                  </a:cubicBezTo>
                  <a:cubicBezTo>
                    <a:pt x="2863905" y="18073"/>
                    <a:pt x="2867868" y="27641"/>
                    <a:pt x="2867868" y="37619"/>
                  </a:cubicBezTo>
                  <a:lnTo>
                    <a:pt x="2867868" y="1410216"/>
                  </a:lnTo>
                  <a:cubicBezTo>
                    <a:pt x="2867868" y="1420193"/>
                    <a:pt x="2863905" y="1429762"/>
                    <a:pt x="2856850" y="1436817"/>
                  </a:cubicBezTo>
                  <a:cubicBezTo>
                    <a:pt x="2849795" y="1443872"/>
                    <a:pt x="2840226" y="1447835"/>
                    <a:pt x="2830250" y="1447835"/>
                  </a:cubicBezTo>
                  <a:lnTo>
                    <a:pt x="37619" y="1447835"/>
                  </a:lnTo>
                  <a:cubicBezTo>
                    <a:pt x="27641" y="1447835"/>
                    <a:pt x="18073" y="1443872"/>
                    <a:pt x="11018" y="1436817"/>
                  </a:cubicBezTo>
                  <a:cubicBezTo>
                    <a:pt x="3963" y="1429762"/>
                    <a:pt x="0" y="1420193"/>
                    <a:pt x="0" y="1410216"/>
                  </a:cubicBezTo>
                  <a:lnTo>
                    <a:pt x="0" y="37619"/>
                  </a:lnTo>
                  <a:cubicBezTo>
                    <a:pt x="0" y="27641"/>
                    <a:pt x="3963" y="18073"/>
                    <a:pt x="11018" y="11018"/>
                  </a:cubicBezTo>
                  <a:cubicBezTo>
                    <a:pt x="18073" y="3963"/>
                    <a:pt x="27641" y="0"/>
                    <a:pt x="37619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67868" cy="1485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8547" y="-612873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3"/>
                </a:lnTo>
                <a:lnTo>
                  <a:pt x="0" y="550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448835" y="-612873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5620930" y="0"/>
                </a:moveTo>
                <a:lnTo>
                  <a:pt x="0" y="0"/>
                </a:lnTo>
                <a:lnTo>
                  <a:pt x="0" y="5509403"/>
                </a:lnTo>
                <a:lnTo>
                  <a:pt x="5620930" y="5509403"/>
                </a:lnTo>
                <a:lnTo>
                  <a:pt x="562093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40998" y="9194274"/>
            <a:ext cx="2299632" cy="827867"/>
          </a:xfrm>
          <a:custGeom>
            <a:avLst/>
            <a:gdLst/>
            <a:ahLst/>
            <a:cxnLst/>
            <a:rect r="r" b="b" t="t" l="l"/>
            <a:pathLst>
              <a:path h="827867" w="2299632">
                <a:moveTo>
                  <a:pt x="0" y="0"/>
                </a:moveTo>
                <a:lnTo>
                  <a:pt x="2299632" y="0"/>
                </a:lnTo>
                <a:lnTo>
                  <a:pt x="2299632" y="827867"/>
                </a:lnTo>
                <a:lnTo>
                  <a:pt x="0" y="827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510779" y="962025"/>
            <a:ext cx="12597211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9"/>
              </a:lnSpc>
            </a:pPr>
            <a:r>
              <a:rPr lang="en-US" sz="5999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MODELS TESTED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9911" y="3489615"/>
            <a:ext cx="8958243" cy="427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957" indent="-374979" lvl="1">
              <a:lnSpc>
                <a:spcPts val="4863"/>
              </a:lnSpc>
              <a:buFont typeface="Arial"/>
              <a:buChar char="•"/>
            </a:pP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 (baseline)</a:t>
            </a:r>
          </a:p>
          <a:p>
            <a:pPr algn="l" marL="749957" indent="-374979" lvl="1">
              <a:lnSpc>
                <a:spcPts val="4863"/>
              </a:lnSpc>
              <a:buFont typeface="Arial"/>
              <a:buChar char="•"/>
            </a:pP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Tree</a:t>
            </a:r>
          </a:p>
          <a:p>
            <a:pPr algn="l" marL="749957" indent="-374979" lvl="1">
              <a:lnSpc>
                <a:spcPts val="4863"/>
              </a:lnSpc>
              <a:buFont typeface="Arial"/>
              <a:buChar char="•"/>
            </a:pP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</a:t>
            </a: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</a:t>
            </a:r>
          </a:p>
          <a:p>
            <a:pPr algn="l" marL="749957" indent="-374979" lvl="1">
              <a:lnSpc>
                <a:spcPts val="486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Grad</a:t>
            </a: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ient Boosting (best performance)</a:t>
            </a:r>
          </a:p>
          <a:p>
            <a:pPr algn="l" marL="749957" indent="-374979" lvl="1">
              <a:lnSpc>
                <a:spcPts val="486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SVM (optional)</a:t>
            </a:r>
          </a:p>
          <a:p>
            <a:pPr algn="l">
              <a:lnSpc>
                <a:spcPts val="48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47973" y="-583682"/>
            <a:ext cx="5620930" cy="5509404"/>
          </a:xfrm>
          <a:custGeom>
            <a:avLst/>
            <a:gdLst/>
            <a:ahLst/>
            <a:cxnLst/>
            <a:rect r="r" b="b" t="t" l="l"/>
            <a:pathLst>
              <a:path h="5509404" w="5620930">
                <a:moveTo>
                  <a:pt x="0" y="0"/>
                </a:moveTo>
                <a:lnTo>
                  <a:pt x="5620930" y="0"/>
                </a:lnTo>
                <a:lnTo>
                  <a:pt x="5620930" y="5509404"/>
                </a:lnTo>
                <a:lnTo>
                  <a:pt x="0" y="55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5295486" y="6259617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1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19" y="0"/>
                </a:lnTo>
                <a:lnTo>
                  <a:pt x="5247619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91749" y="3988497"/>
            <a:ext cx="8723250" cy="2766143"/>
            <a:chOff x="0" y="0"/>
            <a:chExt cx="2297481" cy="7285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7481" cy="728531"/>
            </a:xfrm>
            <a:custGeom>
              <a:avLst/>
              <a:gdLst/>
              <a:ahLst/>
              <a:cxnLst/>
              <a:rect r="r" b="b" t="t" l="l"/>
              <a:pathLst>
                <a:path h="728531" w="2297481">
                  <a:moveTo>
                    <a:pt x="45263" y="0"/>
                  </a:moveTo>
                  <a:lnTo>
                    <a:pt x="2252219" y="0"/>
                  </a:lnTo>
                  <a:cubicBezTo>
                    <a:pt x="2277217" y="0"/>
                    <a:pt x="2297481" y="20265"/>
                    <a:pt x="2297481" y="45263"/>
                  </a:cubicBezTo>
                  <a:lnTo>
                    <a:pt x="2297481" y="683269"/>
                  </a:lnTo>
                  <a:cubicBezTo>
                    <a:pt x="2297481" y="708267"/>
                    <a:pt x="2277217" y="728531"/>
                    <a:pt x="2252219" y="728531"/>
                  </a:cubicBezTo>
                  <a:lnTo>
                    <a:pt x="45263" y="728531"/>
                  </a:lnTo>
                  <a:cubicBezTo>
                    <a:pt x="20265" y="728531"/>
                    <a:pt x="0" y="708267"/>
                    <a:pt x="0" y="683269"/>
                  </a:cubicBezTo>
                  <a:lnTo>
                    <a:pt x="0" y="45263"/>
                  </a:lnTo>
                  <a:cubicBezTo>
                    <a:pt x="0" y="20265"/>
                    <a:pt x="20265" y="0"/>
                    <a:pt x="45263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97481" cy="766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10780" y="274386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5" y="0"/>
                </a:lnTo>
                <a:lnTo>
                  <a:pt x="1082025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392805" y="1205690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521795" y="1868022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5" y="0"/>
                </a:lnTo>
                <a:lnTo>
                  <a:pt x="659995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628838" y="7257719"/>
            <a:ext cx="3499189" cy="2595762"/>
          </a:xfrm>
          <a:custGeom>
            <a:avLst/>
            <a:gdLst/>
            <a:ahLst/>
            <a:cxnLst/>
            <a:rect r="r" b="b" t="t" l="l"/>
            <a:pathLst>
              <a:path h="2595762" w="3499189">
                <a:moveTo>
                  <a:pt x="0" y="0"/>
                </a:moveTo>
                <a:lnTo>
                  <a:pt x="3499189" y="0"/>
                </a:lnTo>
                <a:lnTo>
                  <a:pt x="3499189" y="2595762"/>
                </a:lnTo>
                <a:lnTo>
                  <a:pt x="0" y="259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0630170" y="2578793"/>
            <a:ext cx="7123311" cy="5755622"/>
            <a:chOff x="0" y="0"/>
            <a:chExt cx="1103587" cy="8916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587" cy="891696"/>
            </a:xfrm>
            <a:custGeom>
              <a:avLst/>
              <a:gdLst/>
              <a:ahLst/>
              <a:cxnLst/>
              <a:rect r="r" b="b" t="t" l="l"/>
              <a:pathLst>
                <a:path h="891696" w="1103587">
                  <a:moveTo>
                    <a:pt x="24997" y="0"/>
                  </a:moveTo>
                  <a:lnTo>
                    <a:pt x="1078590" y="0"/>
                  </a:lnTo>
                  <a:cubicBezTo>
                    <a:pt x="1092396" y="0"/>
                    <a:pt x="1103587" y="11192"/>
                    <a:pt x="1103587" y="24997"/>
                  </a:cubicBezTo>
                  <a:lnTo>
                    <a:pt x="1103587" y="866699"/>
                  </a:lnTo>
                  <a:cubicBezTo>
                    <a:pt x="1103587" y="880505"/>
                    <a:pt x="1092396" y="891696"/>
                    <a:pt x="1078590" y="891696"/>
                  </a:cubicBezTo>
                  <a:lnTo>
                    <a:pt x="24997" y="891696"/>
                  </a:lnTo>
                  <a:cubicBezTo>
                    <a:pt x="11192" y="891696"/>
                    <a:pt x="0" y="880505"/>
                    <a:pt x="0" y="866699"/>
                  </a:cubicBezTo>
                  <a:lnTo>
                    <a:pt x="0" y="24997"/>
                  </a:lnTo>
                  <a:cubicBezTo>
                    <a:pt x="0" y="11192"/>
                    <a:pt x="11192" y="0"/>
                    <a:pt x="24997" y="0"/>
                  </a:cubicBezTo>
                  <a:close/>
                </a:path>
              </a:pathLst>
            </a:custGeom>
            <a:blipFill>
              <a:blip r:embed="rId8"/>
              <a:stretch>
                <a:fillRect l="-7817" t="0" r="-781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86107" y="1064416"/>
            <a:ext cx="1291234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sz="5999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COMPARASION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471" y="4320771"/>
            <a:ext cx="8177806" cy="245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Compared models using:</a:t>
            </a:r>
          </a:p>
          <a:p>
            <a:pPr algn="l" marL="690877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PR-AUC</a:t>
            </a:r>
          </a:p>
          <a:p>
            <a:pPr algn="l" marL="690877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ROC-AUC</a:t>
            </a:r>
          </a:p>
          <a:p>
            <a:pPr algn="l" marL="690877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Precision, Recall, F</a:t>
            </a:r>
          </a:p>
          <a:p>
            <a:pPr algn="l">
              <a:lnSpc>
                <a:spcPts val="387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21241"/>
            <a:ext cx="12941913" cy="90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4"/>
              </a:lnSpc>
            </a:pPr>
            <a:r>
              <a:rPr lang="en-US" sz="56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FINAL MODEL PREFORMANCE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39156" y="3419090"/>
            <a:ext cx="10621608" cy="5536720"/>
            <a:chOff x="0" y="0"/>
            <a:chExt cx="2797461" cy="1458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460" cy="1458231"/>
            </a:xfrm>
            <a:custGeom>
              <a:avLst/>
              <a:gdLst/>
              <a:ahLst/>
              <a:cxnLst/>
              <a:rect r="r" b="b" t="t" l="l"/>
              <a:pathLst>
                <a:path h="1458231" w="2797460">
                  <a:moveTo>
                    <a:pt x="37173" y="0"/>
                  </a:moveTo>
                  <a:lnTo>
                    <a:pt x="2760287" y="0"/>
                  </a:lnTo>
                  <a:cubicBezTo>
                    <a:pt x="2780817" y="0"/>
                    <a:pt x="2797460" y="16643"/>
                    <a:pt x="2797460" y="37173"/>
                  </a:cubicBezTo>
                  <a:lnTo>
                    <a:pt x="2797460" y="1421058"/>
                  </a:lnTo>
                  <a:cubicBezTo>
                    <a:pt x="2797460" y="1441588"/>
                    <a:pt x="2780817" y="1458231"/>
                    <a:pt x="2760287" y="1458231"/>
                  </a:cubicBezTo>
                  <a:lnTo>
                    <a:pt x="37173" y="1458231"/>
                  </a:lnTo>
                  <a:cubicBezTo>
                    <a:pt x="16643" y="1458231"/>
                    <a:pt x="0" y="1441588"/>
                    <a:pt x="0" y="1421058"/>
                  </a:cubicBezTo>
                  <a:lnTo>
                    <a:pt x="0" y="37173"/>
                  </a:lnTo>
                  <a:cubicBezTo>
                    <a:pt x="0" y="16643"/>
                    <a:pt x="16643" y="0"/>
                    <a:pt x="37173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461" cy="14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9156" y="3688725"/>
            <a:ext cx="12941913" cy="493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mo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evaluated on unseen test data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metrics: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Recall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F1-Score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ROC-AUC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PR-AUC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448435" y="3007859"/>
            <a:ext cx="5246370" cy="5947950"/>
            <a:chOff x="0" y="0"/>
            <a:chExt cx="812800" cy="9214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921493"/>
            </a:xfrm>
            <a:custGeom>
              <a:avLst/>
              <a:gdLst/>
              <a:ahLst/>
              <a:cxnLst/>
              <a:rect r="r" b="b" t="t" l="l"/>
              <a:pathLst>
                <a:path h="921493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887553"/>
                  </a:lnTo>
                  <a:cubicBezTo>
                    <a:pt x="812800" y="896554"/>
                    <a:pt x="809224" y="905187"/>
                    <a:pt x="802859" y="911552"/>
                  </a:cubicBezTo>
                  <a:cubicBezTo>
                    <a:pt x="796494" y="917917"/>
                    <a:pt x="787861" y="921493"/>
                    <a:pt x="778860" y="921493"/>
                  </a:cubicBezTo>
                  <a:lnTo>
                    <a:pt x="33940" y="921493"/>
                  </a:lnTo>
                  <a:cubicBezTo>
                    <a:pt x="15196" y="921493"/>
                    <a:pt x="0" y="906297"/>
                    <a:pt x="0" y="887553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6"/>
              <a:stretch>
                <a:fillRect l="-4091" t="0" r="-2812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21241"/>
            <a:ext cx="12941913" cy="101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0"/>
              </a:lnSpc>
            </a:pPr>
            <a:r>
              <a:rPr lang="en-US" sz="63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ROC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39156" y="3419090"/>
            <a:ext cx="9647442" cy="5536720"/>
            <a:chOff x="0" y="0"/>
            <a:chExt cx="2540890" cy="1458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890" cy="1458231"/>
            </a:xfrm>
            <a:custGeom>
              <a:avLst/>
              <a:gdLst/>
              <a:ahLst/>
              <a:cxnLst/>
              <a:rect r="r" b="b" t="t" l="l"/>
              <a:pathLst>
                <a:path h="1458231" w="2540890">
                  <a:moveTo>
                    <a:pt x="40927" y="0"/>
                  </a:moveTo>
                  <a:lnTo>
                    <a:pt x="2499963" y="0"/>
                  </a:lnTo>
                  <a:cubicBezTo>
                    <a:pt x="2522567" y="0"/>
                    <a:pt x="2540890" y="18324"/>
                    <a:pt x="2540890" y="40927"/>
                  </a:cubicBezTo>
                  <a:lnTo>
                    <a:pt x="2540890" y="1417304"/>
                  </a:lnTo>
                  <a:cubicBezTo>
                    <a:pt x="2540890" y="1439907"/>
                    <a:pt x="2522567" y="1458231"/>
                    <a:pt x="2499963" y="1458231"/>
                  </a:cubicBezTo>
                  <a:lnTo>
                    <a:pt x="40927" y="1458231"/>
                  </a:lnTo>
                  <a:cubicBezTo>
                    <a:pt x="18324" y="1458231"/>
                    <a:pt x="0" y="1439907"/>
                    <a:pt x="0" y="1417304"/>
                  </a:cubicBezTo>
                  <a:lnTo>
                    <a:pt x="0" y="40927"/>
                  </a:lnTo>
                  <a:cubicBezTo>
                    <a:pt x="0" y="18324"/>
                    <a:pt x="18324" y="0"/>
                    <a:pt x="40927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40890" cy="14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9637" y="3419090"/>
            <a:ext cx="6395845" cy="5536720"/>
            <a:chOff x="0" y="0"/>
            <a:chExt cx="990884" cy="8577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884" cy="857783"/>
            </a:xfrm>
            <a:custGeom>
              <a:avLst/>
              <a:gdLst/>
              <a:ahLst/>
              <a:cxnLst/>
              <a:rect r="r" b="b" t="t" l="l"/>
              <a:pathLst>
                <a:path h="857783" w="990884">
                  <a:moveTo>
                    <a:pt x="27841" y="0"/>
                  </a:moveTo>
                  <a:lnTo>
                    <a:pt x="963043" y="0"/>
                  </a:lnTo>
                  <a:cubicBezTo>
                    <a:pt x="970427" y="0"/>
                    <a:pt x="977508" y="2933"/>
                    <a:pt x="982729" y="8154"/>
                  </a:cubicBezTo>
                  <a:cubicBezTo>
                    <a:pt x="987951" y="13375"/>
                    <a:pt x="990884" y="20457"/>
                    <a:pt x="990884" y="27841"/>
                  </a:cubicBezTo>
                  <a:lnTo>
                    <a:pt x="990884" y="829942"/>
                  </a:lnTo>
                  <a:cubicBezTo>
                    <a:pt x="990884" y="845318"/>
                    <a:pt x="978419" y="857783"/>
                    <a:pt x="963043" y="857783"/>
                  </a:cubicBezTo>
                  <a:lnTo>
                    <a:pt x="27841" y="857783"/>
                  </a:lnTo>
                  <a:cubicBezTo>
                    <a:pt x="20457" y="857783"/>
                    <a:pt x="13375" y="854850"/>
                    <a:pt x="8154" y="849628"/>
                  </a:cubicBezTo>
                  <a:cubicBezTo>
                    <a:pt x="2933" y="844407"/>
                    <a:pt x="0" y="837326"/>
                    <a:pt x="0" y="829942"/>
                  </a:cubicBezTo>
                  <a:lnTo>
                    <a:pt x="0" y="27841"/>
                  </a:lnTo>
                  <a:cubicBezTo>
                    <a:pt x="0" y="12465"/>
                    <a:pt x="12465" y="0"/>
                    <a:pt x="27841" y="0"/>
                  </a:cubicBezTo>
                  <a:close/>
                </a:path>
              </a:pathLst>
            </a:custGeom>
            <a:blipFill>
              <a:blip r:embed="rId6"/>
              <a:stretch>
                <a:fillRect l="-4274" t="0" r="-427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97023" y="4617413"/>
            <a:ext cx="9589635" cy="30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Shows tra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de-off between True Positive Rate and False Positive Rate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AUC (&gt; 0.85) indicates strong separation ability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11716"/>
            <a:ext cx="12941913" cy="97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6"/>
              </a:lnSpc>
            </a:pPr>
            <a:r>
              <a:rPr lang="en-US" sz="60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PRECISION RECALL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39156" y="3419090"/>
            <a:ext cx="10621608" cy="5536720"/>
            <a:chOff x="0" y="0"/>
            <a:chExt cx="2797461" cy="1458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460" cy="1458231"/>
            </a:xfrm>
            <a:custGeom>
              <a:avLst/>
              <a:gdLst/>
              <a:ahLst/>
              <a:cxnLst/>
              <a:rect r="r" b="b" t="t" l="l"/>
              <a:pathLst>
                <a:path h="1458231" w="2797460">
                  <a:moveTo>
                    <a:pt x="37173" y="0"/>
                  </a:moveTo>
                  <a:lnTo>
                    <a:pt x="2760287" y="0"/>
                  </a:lnTo>
                  <a:cubicBezTo>
                    <a:pt x="2780817" y="0"/>
                    <a:pt x="2797460" y="16643"/>
                    <a:pt x="2797460" y="37173"/>
                  </a:cubicBezTo>
                  <a:lnTo>
                    <a:pt x="2797460" y="1421058"/>
                  </a:lnTo>
                  <a:cubicBezTo>
                    <a:pt x="2797460" y="1441588"/>
                    <a:pt x="2780817" y="1458231"/>
                    <a:pt x="2760287" y="1458231"/>
                  </a:cubicBezTo>
                  <a:lnTo>
                    <a:pt x="37173" y="1458231"/>
                  </a:lnTo>
                  <a:cubicBezTo>
                    <a:pt x="16643" y="1458231"/>
                    <a:pt x="0" y="1441588"/>
                    <a:pt x="0" y="1421058"/>
                  </a:cubicBezTo>
                  <a:lnTo>
                    <a:pt x="0" y="37173"/>
                  </a:lnTo>
                  <a:cubicBezTo>
                    <a:pt x="0" y="16643"/>
                    <a:pt x="16643" y="0"/>
                    <a:pt x="37173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461" cy="14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48435" y="3007859"/>
            <a:ext cx="5607046" cy="5947950"/>
            <a:chOff x="0" y="0"/>
            <a:chExt cx="868678" cy="9214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678" cy="921493"/>
            </a:xfrm>
            <a:custGeom>
              <a:avLst/>
              <a:gdLst/>
              <a:ahLst/>
              <a:cxnLst/>
              <a:rect r="r" b="b" t="t" l="l"/>
              <a:pathLst>
                <a:path h="921493" w="868678">
                  <a:moveTo>
                    <a:pt x="31757" y="0"/>
                  </a:moveTo>
                  <a:lnTo>
                    <a:pt x="836921" y="0"/>
                  </a:lnTo>
                  <a:cubicBezTo>
                    <a:pt x="845343" y="0"/>
                    <a:pt x="853421" y="3346"/>
                    <a:pt x="859377" y="9301"/>
                  </a:cubicBezTo>
                  <a:cubicBezTo>
                    <a:pt x="865332" y="15257"/>
                    <a:pt x="868678" y="23335"/>
                    <a:pt x="868678" y="31757"/>
                  </a:cubicBezTo>
                  <a:lnTo>
                    <a:pt x="868678" y="889736"/>
                  </a:lnTo>
                  <a:cubicBezTo>
                    <a:pt x="868678" y="907275"/>
                    <a:pt x="854460" y="921493"/>
                    <a:pt x="836921" y="921493"/>
                  </a:cubicBezTo>
                  <a:lnTo>
                    <a:pt x="31757" y="921493"/>
                  </a:lnTo>
                  <a:cubicBezTo>
                    <a:pt x="14218" y="921493"/>
                    <a:pt x="0" y="907275"/>
                    <a:pt x="0" y="889736"/>
                  </a:cubicBezTo>
                  <a:lnTo>
                    <a:pt x="0" y="31757"/>
                  </a:lnTo>
                  <a:cubicBezTo>
                    <a:pt x="0" y="14218"/>
                    <a:pt x="14218" y="0"/>
                    <a:pt x="31757" y="0"/>
                  </a:cubicBezTo>
                  <a:close/>
                </a:path>
              </a:pathLst>
            </a:custGeom>
            <a:blipFill>
              <a:blip r:embed="rId6"/>
              <a:stretch>
                <a:fillRect l="-7418" t="0" r="-741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39719" y="4411797"/>
            <a:ext cx="9274464" cy="30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 curv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focuses on minority fraud class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igh PR-AUC indicates reliable fraud detection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11716"/>
            <a:ext cx="12941913" cy="9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8"/>
              </a:lnSpc>
            </a:pPr>
            <a:r>
              <a:rPr lang="en-US" sz="59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FEATURE IMPORTANCE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39156" y="3419090"/>
            <a:ext cx="10621608" cy="5536720"/>
            <a:chOff x="0" y="0"/>
            <a:chExt cx="2797461" cy="1458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460" cy="1458231"/>
            </a:xfrm>
            <a:custGeom>
              <a:avLst/>
              <a:gdLst/>
              <a:ahLst/>
              <a:cxnLst/>
              <a:rect r="r" b="b" t="t" l="l"/>
              <a:pathLst>
                <a:path h="1458231" w="2797460">
                  <a:moveTo>
                    <a:pt x="37173" y="0"/>
                  </a:moveTo>
                  <a:lnTo>
                    <a:pt x="2760287" y="0"/>
                  </a:lnTo>
                  <a:cubicBezTo>
                    <a:pt x="2780817" y="0"/>
                    <a:pt x="2797460" y="16643"/>
                    <a:pt x="2797460" y="37173"/>
                  </a:cubicBezTo>
                  <a:lnTo>
                    <a:pt x="2797460" y="1421058"/>
                  </a:lnTo>
                  <a:cubicBezTo>
                    <a:pt x="2797460" y="1441588"/>
                    <a:pt x="2780817" y="1458231"/>
                    <a:pt x="2760287" y="1458231"/>
                  </a:cubicBezTo>
                  <a:lnTo>
                    <a:pt x="37173" y="1458231"/>
                  </a:lnTo>
                  <a:cubicBezTo>
                    <a:pt x="16643" y="1458231"/>
                    <a:pt x="0" y="1441588"/>
                    <a:pt x="0" y="1421058"/>
                  </a:cubicBezTo>
                  <a:lnTo>
                    <a:pt x="0" y="37173"/>
                  </a:lnTo>
                  <a:cubicBezTo>
                    <a:pt x="0" y="16643"/>
                    <a:pt x="16643" y="0"/>
                    <a:pt x="37173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461" cy="14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9156" y="3688725"/>
            <a:ext cx="12941913" cy="369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important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features include: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reimbursed amount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Claims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per beneficiary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P/OP claim ratio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erage claim duration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448435" y="3007859"/>
            <a:ext cx="5839565" cy="5947950"/>
            <a:chOff x="0" y="0"/>
            <a:chExt cx="904701" cy="9214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4701" cy="921493"/>
            </a:xfrm>
            <a:custGeom>
              <a:avLst/>
              <a:gdLst/>
              <a:ahLst/>
              <a:cxnLst/>
              <a:rect r="r" b="b" t="t" l="l"/>
              <a:pathLst>
                <a:path h="921493" w="904701">
                  <a:moveTo>
                    <a:pt x="30493" y="0"/>
                  </a:moveTo>
                  <a:lnTo>
                    <a:pt x="874209" y="0"/>
                  </a:lnTo>
                  <a:cubicBezTo>
                    <a:pt x="891049" y="0"/>
                    <a:pt x="904701" y="13652"/>
                    <a:pt x="904701" y="30493"/>
                  </a:cubicBezTo>
                  <a:lnTo>
                    <a:pt x="904701" y="891000"/>
                  </a:lnTo>
                  <a:cubicBezTo>
                    <a:pt x="904701" y="899088"/>
                    <a:pt x="901489" y="906844"/>
                    <a:pt x="895770" y="912562"/>
                  </a:cubicBezTo>
                  <a:cubicBezTo>
                    <a:pt x="890052" y="918281"/>
                    <a:pt x="882296" y="921493"/>
                    <a:pt x="874209" y="921493"/>
                  </a:cubicBezTo>
                  <a:lnTo>
                    <a:pt x="30493" y="921493"/>
                  </a:lnTo>
                  <a:cubicBezTo>
                    <a:pt x="22406" y="921493"/>
                    <a:pt x="14650" y="918281"/>
                    <a:pt x="8931" y="912562"/>
                  </a:cubicBezTo>
                  <a:cubicBezTo>
                    <a:pt x="3213" y="906844"/>
                    <a:pt x="0" y="899088"/>
                    <a:pt x="0" y="891000"/>
                  </a:cubicBezTo>
                  <a:lnTo>
                    <a:pt x="0" y="30493"/>
                  </a:lnTo>
                  <a:cubicBezTo>
                    <a:pt x="0" y="22406"/>
                    <a:pt x="3213" y="14650"/>
                    <a:pt x="8931" y="8931"/>
                  </a:cubicBezTo>
                  <a:cubicBezTo>
                    <a:pt x="14650" y="3213"/>
                    <a:pt x="22406" y="0"/>
                    <a:pt x="30493" y="0"/>
                  </a:cubicBezTo>
                  <a:close/>
                </a:path>
              </a:pathLst>
            </a:custGeom>
            <a:blipFill>
              <a:blip r:embed="rId6"/>
              <a:stretch>
                <a:fillRect l="-24756" t="0" r="-24756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11716"/>
            <a:ext cx="12941913" cy="9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8"/>
              </a:lnSpc>
            </a:pPr>
            <a:r>
              <a:rPr lang="en-US" sz="59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ERROR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39156" y="3419090"/>
            <a:ext cx="14174449" cy="6438659"/>
            <a:chOff x="0" y="0"/>
            <a:chExt cx="3733188" cy="1695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33188" cy="1695779"/>
            </a:xfrm>
            <a:custGeom>
              <a:avLst/>
              <a:gdLst/>
              <a:ahLst/>
              <a:cxnLst/>
              <a:rect r="r" b="b" t="t" l="l"/>
              <a:pathLst>
                <a:path h="1695779" w="3733188">
                  <a:moveTo>
                    <a:pt x="27856" y="0"/>
                  </a:moveTo>
                  <a:lnTo>
                    <a:pt x="3705333" y="0"/>
                  </a:lnTo>
                  <a:cubicBezTo>
                    <a:pt x="3712721" y="0"/>
                    <a:pt x="3719806" y="2935"/>
                    <a:pt x="3725030" y="8159"/>
                  </a:cubicBezTo>
                  <a:cubicBezTo>
                    <a:pt x="3730254" y="13383"/>
                    <a:pt x="3733188" y="20468"/>
                    <a:pt x="3733188" y="27856"/>
                  </a:cubicBezTo>
                  <a:lnTo>
                    <a:pt x="3733188" y="1667923"/>
                  </a:lnTo>
                  <a:cubicBezTo>
                    <a:pt x="3733188" y="1675311"/>
                    <a:pt x="3730254" y="1682396"/>
                    <a:pt x="3725030" y="1687620"/>
                  </a:cubicBezTo>
                  <a:cubicBezTo>
                    <a:pt x="3719806" y="1692844"/>
                    <a:pt x="3712721" y="1695779"/>
                    <a:pt x="3705333" y="1695779"/>
                  </a:cubicBezTo>
                  <a:lnTo>
                    <a:pt x="27856" y="1695779"/>
                  </a:lnTo>
                  <a:cubicBezTo>
                    <a:pt x="20468" y="1695779"/>
                    <a:pt x="13383" y="1692844"/>
                    <a:pt x="8159" y="1687620"/>
                  </a:cubicBezTo>
                  <a:cubicBezTo>
                    <a:pt x="2935" y="1682396"/>
                    <a:pt x="0" y="1675311"/>
                    <a:pt x="0" y="1667923"/>
                  </a:cubicBezTo>
                  <a:lnTo>
                    <a:pt x="0" y="27856"/>
                  </a:lnTo>
                  <a:cubicBezTo>
                    <a:pt x="0" y="20468"/>
                    <a:pt x="2935" y="13383"/>
                    <a:pt x="8159" y="8159"/>
                  </a:cubicBezTo>
                  <a:cubicBezTo>
                    <a:pt x="13383" y="2935"/>
                    <a:pt x="20468" y="0"/>
                    <a:pt x="27856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33188" cy="1733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9156" y="3688725"/>
            <a:ext cx="12941913" cy="616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False Positives: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Legitimate providers incorrectly flagged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Leads to wasted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investigation resources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False Negatives: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audulent providers missed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serious → undetected fin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ancial loss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Observed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patterns: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false negatives had few claims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false positi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had unusually long claim durations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11716"/>
            <a:ext cx="12941913" cy="97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6"/>
              </a:lnSpc>
            </a:pPr>
            <a:r>
              <a:rPr lang="en-US" sz="60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BUSINESS IMPACT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288670" y="3271466"/>
            <a:ext cx="14174449" cy="3974592"/>
            <a:chOff x="0" y="0"/>
            <a:chExt cx="3733188" cy="1046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33188" cy="1046806"/>
            </a:xfrm>
            <a:custGeom>
              <a:avLst/>
              <a:gdLst/>
              <a:ahLst/>
              <a:cxnLst/>
              <a:rect r="r" b="b" t="t" l="l"/>
              <a:pathLst>
                <a:path h="1046806" w="3733188">
                  <a:moveTo>
                    <a:pt x="27856" y="0"/>
                  </a:moveTo>
                  <a:lnTo>
                    <a:pt x="3705333" y="0"/>
                  </a:lnTo>
                  <a:cubicBezTo>
                    <a:pt x="3712721" y="0"/>
                    <a:pt x="3719806" y="2935"/>
                    <a:pt x="3725030" y="8159"/>
                  </a:cubicBezTo>
                  <a:cubicBezTo>
                    <a:pt x="3730254" y="13383"/>
                    <a:pt x="3733188" y="20468"/>
                    <a:pt x="3733188" y="27856"/>
                  </a:cubicBezTo>
                  <a:lnTo>
                    <a:pt x="3733188" y="1018950"/>
                  </a:lnTo>
                  <a:cubicBezTo>
                    <a:pt x="3733188" y="1026338"/>
                    <a:pt x="3730254" y="1033423"/>
                    <a:pt x="3725030" y="1038647"/>
                  </a:cubicBezTo>
                  <a:cubicBezTo>
                    <a:pt x="3719806" y="1043871"/>
                    <a:pt x="3712721" y="1046806"/>
                    <a:pt x="3705333" y="1046806"/>
                  </a:cubicBezTo>
                  <a:lnTo>
                    <a:pt x="27856" y="1046806"/>
                  </a:lnTo>
                  <a:cubicBezTo>
                    <a:pt x="20468" y="1046806"/>
                    <a:pt x="13383" y="1043871"/>
                    <a:pt x="8159" y="1038647"/>
                  </a:cubicBezTo>
                  <a:cubicBezTo>
                    <a:pt x="2935" y="1033423"/>
                    <a:pt x="0" y="1026338"/>
                    <a:pt x="0" y="1018950"/>
                  </a:cubicBezTo>
                  <a:lnTo>
                    <a:pt x="0" y="27856"/>
                  </a:lnTo>
                  <a:cubicBezTo>
                    <a:pt x="0" y="20468"/>
                    <a:pt x="2935" y="13383"/>
                    <a:pt x="8159" y="8159"/>
                  </a:cubicBezTo>
                  <a:cubicBezTo>
                    <a:pt x="13383" y="2935"/>
                    <a:pt x="20468" y="0"/>
                    <a:pt x="27856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33188" cy="108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23810" y="3688725"/>
            <a:ext cx="12941913" cy="30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audit workload by prior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itizing risky providers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elps prevent fin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ancial losses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Improves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quality and integrity of Medicare operations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ables continuous ML-based fraud monitoring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3499" y="811716"/>
            <a:ext cx="12941913" cy="97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6"/>
              </a:lnSpc>
            </a:pPr>
            <a:r>
              <a:rPr lang="en-US" sz="60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FUTURE 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288670" y="3271466"/>
            <a:ext cx="14174449" cy="3974592"/>
            <a:chOff x="0" y="0"/>
            <a:chExt cx="3733188" cy="1046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33188" cy="1046806"/>
            </a:xfrm>
            <a:custGeom>
              <a:avLst/>
              <a:gdLst/>
              <a:ahLst/>
              <a:cxnLst/>
              <a:rect r="r" b="b" t="t" l="l"/>
              <a:pathLst>
                <a:path h="1046806" w="3733188">
                  <a:moveTo>
                    <a:pt x="27856" y="0"/>
                  </a:moveTo>
                  <a:lnTo>
                    <a:pt x="3705333" y="0"/>
                  </a:lnTo>
                  <a:cubicBezTo>
                    <a:pt x="3712721" y="0"/>
                    <a:pt x="3719806" y="2935"/>
                    <a:pt x="3725030" y="8159"/>
                  </a:cubicBezTo>
                  <a:cubicBezTo>
                    <a:pt x="3730254" y="13383"/>
                    <a:pt x="3733188" y="20468"/>
                    <a:pt x="3733188" y="27856"/>
                  </a:cubicBezTo>
                  <a:lnTo>
                    <a:pt x="3733188" y="1018950"/>
                  </a:lnTo>
                  <a:cubicBezTo>
                    <a:pt x="3733188" y="1026338"/>
                    <a:pt x="3730254" y="1033423"/>
                    <a:pt x="3725030" y="1038647"/>
                  </a:cubicBezTo>
                  <a:cubicBezTo>
                    <a:pt x="3719806" y="1043871"/>
                    <a:pt x="3712721" y="1046806"/>
                    <a:pt x="3705333" y="1046806"/>
                  </a:cubicBezTo>
                  <a:lnTo>
                    <a:pt x="27856" y="1046806"/>
                  </a:lnTo>
                  <a:cubicBezTo>
                    <a:pt x="20468" y="1046806"/>
                    <a:pt x="13383" y="1043871"/>
                    <a:pt x="8159" y="1038647"/>
                  </a:cubicBezTo>
                  <a:cubicBezTo>
                    <a:pt x="2935" y="1033423"/>
                    <a:pt x="0" y="1026338"/>
                    <a:pt x="0" y="1018950"/>
                  </a:cubicBezTo>
                  <a:lnTo>
                    <a:pt x="0" y="27856"/>
                  </a:lnTo>
                  <a:cubicBezTo>
                    <a:pt x="0" y="20468"/>
                    <a:pt x="2935" y="13383"/>
                    <a:pt x="8159" y="8159"/>
                  </a:cubicBezTo>
                  <a:cubicBezTo>
                    <a:pt x="13383" y="2935"/>
                    <a:pt x="20468" y="0"/>
                    <a:pt x="27856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33188" cy="108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23810" y="3688725"/>
            <a:ext cx="12941913" cy="369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temporal model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(time-based fraud trends)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eriment w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ith XGBoos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/ LightGBM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 model as a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API for 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scoring</a:t>
            </a:r>
          </a:p>
          <a:p>
            <a:pPr algn="l" marL="755659" indent="-377829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advanced feature engineering and deep learning approache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3044" y="3585759"/>
            <a:ext cx="12941913" cy="267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2"/>
              </a:lnSpc>
            </a:pPr>
            <a:r>
              <a:rPr lang="en-US" sz="8267">
                <a:solidFill>
                  <a:srgbClr val="0A8271"/>
                </a:solidFill>
                <a:latin typeface="Bernoru"/>
                <a:ea typeface="Bernoru"/>
                <a:cs typeface="Bernoru"/>
                <a:sym typeface="Bernoru"/>
              </a:rPr>
              <a:t>THANK YOU FOR YOUR ATTENTION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3068684" y="514350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2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20" y="0"/>
                </a:lnTo>
                <a:lnTo>
                  <a:pt x="5247620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0" y="0"/>
                </a:moveTo>
                <a:lnTo>
                  <a:pt x="5247619" y="0"/>
                </a:lnTo>
                <a:lnTo>
                  <a:pt x="5247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463119" y="372118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334129" y="1303421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2" y="0"/>
                </a:lnTo>
                <a:lnTo>
                  <a:pt x="721352" y="662333"/>
                </a:lnTo>
                <a:lnTo>
                  <a:pt x="0" y="66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74133" y="1965754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691105" y="7904930"/>
            <a:ext cx="4755158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0A8271"/>
                </a:solidFill>
                <a:latin typeface="Canva Sans"/>
                <a:ea typeface="Canva Sans"/>
                <a:cs typeface="Canva Sans"/>
                <a:sym typeface="Canva Sans"/>
              </a:rPr>
              <a:t>Any questions?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DAG6fFDQdL0</dc:identifier>
  <dcterms:modified xsi:type="dcterms:W3CDTF">2011-08-01T06:04:30Z</dcterms:modified>
  <cp:revision>1</cp:revision>
  <dc:title>White and Blue Modern Innovations in Medicine Presentation</dc:title>
</cp:coreProperties>
</file>